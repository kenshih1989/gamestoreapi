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B8C62B-0AB1-4DD2-9942-8A5A469C29B0}">
          <p14:sldIdLst>
            <p14:sldId id="256"/>
          </p14:sldIdLst>
        </p14:section>
        <p14:section name="Introduction" id="{78046018-3D7A-4B42-AFF7-07B7E248035D}">
          <p14:sldIdLst>
            <p14:sldId id="258"/>
            <p14:sldId id="257"/>
            <p14:sldId id="259"/>
            <p14:sldId id="260"/>
            <p14:sldId id="261"/>
          </p14:sldIdLst>
        </p14:section>
        <p14:section name="Middleware" id="{4890FFFA-2F82-43B4-8B50-32BE2648611C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Endpoints and Routing" id="{3A6E8B75-F468-44B1-A54B-7A9DD72F58F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Model Validation" id="{562DF6A0-EBEE-43F6-B3BD-86CC73643301}">
          <p14:sldIdLst>
            <p14:sldId id="283"/>
            <p14:sldId id="284"/>
            <p14:sldId id="285"/>
            <p14:sldId id="286"/>
            <p14:sldId id="287"/>
          </p14:sldIdLst>
        </p14:section>
        <p14:section name="Minimal Api" id="{4CB0C71F-1CBA-4B2F-B351-6C39215D61EA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BD83-C0CB-CF44-ED03-C0ABB51D3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4BC7B-ADDD-916F-FB51-4D820AD14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7E39E-19D1-7B21-4F41-05C0BFA2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7B966-F4A4-EBF9-7EAC-6B800E77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E47F-ADE7-7E0D-7A28-EDF5484B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9890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7C72-4E11-0334-3EE5-807B5756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D46B-E205-1FAC-84E7-8BFD1EAE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C13D5-F481-24B2-973C-838FBCBE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4AAEB-115D-3824-7DDE-6A0DFDAFE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0E3C6-B335-467D-5D59-427CAA0B5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7318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41B8-7A46-6036-069B-A176A1B5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47E79-6769-A1D2-3D75-9B6BB0440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AF94-6FCB-F29C-26FA-6203A0916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6BF0C-DCF8-4999-121F-7FE74215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DAE28-E0C8-3A80-EAC1-02573C22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4545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03C0-4B24-4DA2-0D62-B0ABA4F6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D4E48-B403-C49A-9737-CE2E1C894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2059E-9D7D-D823-9A82-DF37AEF01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A9FE1-3925-075C-D9B3-D227B1F5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FB47E-51BA-B473-D7F8-41AA32E9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77413-5DC2-5280-CCC8-B859DB84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75723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C9CF-01FF-62BD-1086-3447C1B3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50CA-F308-C7A4-E532-A9A28CB68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23FD7-766D-C801-F4E9-78DBB9D4E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D31B5-56CA-E410-529D-F469B6A15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2F1A1-3B1F-2CCF-43F3-9CCFD0A1D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C4266-A96E-65CE-BB02-BAE4D1F3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55A14-34D7-DE30-229B-F36FD1F8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E04B2-36EF-047D-2E9C-92B12AA6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4732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CEE2-EC52-C437-7E37-ED70C89A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A293D-04AB-3739-B2B0-91D08F4D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3D135-1574-BEEC-593D-2D0315D0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4DBC3-689C-0CC3-CAD8-01A4AC66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2234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C6A38-5F08-EB65-AFB8-C55D086B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A6C7C-2B3B-5A44-8351-1A8D808B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366AF-F4F0-1BF7-DD7A-6DF1C056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1877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8BDC-19D0-F0DF-2B29-B0925390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78DB1-3049-4969-822E-790730368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2146F-EDE2-C3E1-C83E-638D5D4E2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01C4E-C369-F479-685B-9AFFEC72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4B35D-C162-3487-75F1-46B69BCB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99B96-C255-B7A1-DAD7-CA59D6A4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1520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D6D3-93F2-9089-D441-72E280E3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4105D-CE62-52FC-C064-1DF95D03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7ADB-9FC5-1932-59EE-F47A8C28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0756C-5525-80AD-8D72-23DDD731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5575F-FB98-6EBE-7EDB-CC0B6CA6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B2E40-A40B-892D-40B5-FC0B302C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2453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303C-6791-A9A8-E078-4F88A6FE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93C80-265F-0798-5B5D-68F9E2DEE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86480-C31F-5904-19B2-BFA779DE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ADB47-B810-7DDE-0832-3A61109B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B6A30-31B3-A4B3-DE73-E5D54E2F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3727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FAA8C-E76D-069C-CD95-6B74F0BC3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B1A7A-5DF0-EE94-AB83-BADE78371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E84C6-0B3A-2BF9-F079-1DF3E2B4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189C2-C551-37F7-215D-DAA80E32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053CF-1F8D-FCB8-A9E8-96BDE3A1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423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50DD1-A774-9B3C-4E8A-48AC663D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5B90A-4A5E-60B7-10F2-AEE1E999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CE91-29DD-B83A-15EB-3D7C62BF8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4F34B-1EF0-4E57-A8EA-521694269FBD}" type="datetimeFigureOut">
              <a:rPr lang="en-MY" smtClean="0"/>
              <a:t>30/8/2026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930BD-91E6-B74C-6C6F-60747D08C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B2779-EB12-E722-02E0-3D1AF2782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4BCBB-03CD-4D75-9ECB-1A95B9478D89}" type="slidenum">
              <a:rPr lang="en-MY" smtClean="0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4258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D476-52D6-1066-C5B3-FCB62214A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ASP.NET Core Deep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7ECC3-1D1B-447F-F7ED-4A4E641AC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Gan Leng Keong</a:t>
            </a:r>
          </a:p>
          <a:p>
            <a:r>
              <a:rPr lang="en-MY" dirty="0"/>
              <a:t>28 August 2026</a:t>
            </a:r>
          </a:p>
        </p:txBody>
      </p:sp>
    </p:spTree>
    <p:extLst>
      <p:ext uri="{BB962C8B-B14F-4D97-AF65-F5344CB8AC3E}">
        <p14:creationId xmlns:p14="http://schemas.microsoft.com/office/powerpoint/2010/main" val="341544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20DB-DEC6-B6B6-BB10-6EB4F9D6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App.Run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32911-4B3E-2BDE-9275-B54585031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43" y="1762250"/>
            <a:ext cx="6505030" cy="4351338"/>
          </a:xfrm>
        </p:spPr>
      </p:pic>
    </p:spTree>
    <p:extLst>
      <p:ext uri="{BB962C8B-B14F-4D97-AF65-F5344CB8AC3E}">
        <p14:creationId xmlns:p14="http://schemas.microsoft.com/office/powerpoint/2010/main" val="282562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0E53-4E69-26AD-D71B-29DFF931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HTTP GET – All employees data and display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7D2CB3C-30C6-9AD8-3768-54F018D17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69" y="1690688"/>
            <a:ext cx="5220431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6A8511-396F-44DF-101C-BDE92D81B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59" y="1690688"/>
            <a:ext cx="3705225" cy="4581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FA5EE6-F8F2-BF10-E3CA-3764CF033462}"/>
              </a:ext>
            </a:extLst>
          </p:cNvPr>
          <p:cNvSpPr/>
          <p:nvPr/>
        </p:nvSpPr>
        <p:spPr>
          <a:xfrm>
            <a:off x="7487216" y="3981450"/>
            <a:ext cx="398427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Query string begin with ? sign</a:t>
            </a:r>
          </a:p>
        </p:txBody>
      </p:sp>
    </p:spTree>
    <p:extLst>
      <p:ext uri="{BB962C8B-B14F-4D97-AF65-F5344CB8AC3E}">
        <p14:creationId xmlns:p14="http://schemas.microsoft.com/office/powerpoint/2010/main" val="370879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AA82-CE84-3778-6FE4-D4B608C6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HTTP POST – Create an Employee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A29ED3-B4A6-B8A0-3FE5-5AA859BEF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6" y="1556199"/>
            <a:ext cx="6011114" cy="403916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2FB1CA-AFAD-D7A1-3480-F8E4EC512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89" y="1556199"/>
            <a:ext cx="5915025" cy="2457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E70322-27A6-4E3F-11DA-6FB35023BD73}"/>
              </a:ext>
            </a:extLst>
          </p:cNvPr>
          <p:cNvSpPr/>
          <p:nvPr/>
        </p:nvSpPr>
        <p:spPr>
          <a:xfrm>
            <a:off x="6781045" y="4264182"/>
            <a:ext cx="398427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Submit the data in JSON format</a:t>
            </a:r>
          </a:p>
        </p:txBody>
      </p:sp>
    </p:spTree>
    <p:extLst>
      <p:ext uri="{BB962C8B-B14F-4D97-AF65-F5344CB8AC3E}">
        <p14:creationId xmlns:p14="http://schemas.microsoft.com/office/powerpoint/2010/main" val="96815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670E-DAF1-FA80-8690-B0C4475B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HTTP PUT – Update an Employee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03D4CC-6538-1120-E4EA-6BA52B4BD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619"/>
            <a:ext cx="6087325" cy="31532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37BA3C-312E-62BF-49DD-681EC4DB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277" y="1428137"/>
            <a:ext cx="5895975" cy="2505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435E8B-846A-9FC1-5FEF-6D68C81E19AE}"/>
              </a:ext>
            </a:extLst>
          </p:cNvPr>
          <p:cNvSpPr/>
          <p:nvPr/>
        </p:nvSpPr>
        <p:spPr>
          <a:xfrm>
            <a:off x="6781045" y="4264182"/>
            <a:ext cx="398427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Submit the data in JSON format</a:t>
            </a:r>
          </a:p>
        </p:txBody>
      </p:sp>
    </p:spTree>
    <p:extLst>
      <p:ext uri="{BB962C8B-B14F-4D97-AF65-F5344CB8AC3E}">
        <p14:creationId xmlns:p14="http://schemas.microsoft.com/office/powerpoint/2010/main" val="183622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D60FE-ED6E-DA68-CD86-4E6B9A640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HTTP DELETE – Delete an Employee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A51CB-3276-B6D1-3FF4-49875E4A9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88294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F12AAC-9F3E-693B-3F72-95BBF914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4" y="1690688"/>
            <a:ext cx="4600575" cy="2190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0F07DE-A436-13C8-9841-2909EF29D338}"/>
              </a:ext>
            </a:extLst>
          </p:cNvPr>
          <p:cNvSpPr/>
          <p:nvPr/>
        </p:nvSpPr>
        <p:spPr>
          <a:xfrm>
            <a:off x="7369521" y="4182701"/>
            <a:ext cx="398427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Only Authorized person can delete</a:t>
            </a:r>
          </a:p>
        </p:txBody>
      </p:sp>
    </p:spTree>
    <p:extLst>
      <p:ext uri="{BB962C8B-B14F-4D97-AF65-F5344CB8AC3E}">
        <p14:creationId xmlns:p14="http://schemas.microsoft.com/office/powerpoint/2010/main" val="11881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A35D-0854-C2C1-8A9F-7ED866C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Middleware concepts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28D0EA-D70F-35A4-F7A8-70C89DFF11C9}"/>
              </a:ext>
            </a:extLst>
          </p:cNvPr>
          <p:cNvSpPr/>
          <p:nvPr/>
        </p:nvSpPr>
        <p:spPr>
          <a:xfrm>
            <a:off x="424760" y="2717170"/>
            <a:ext cx="1803149" cy="1423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E0B19F-595A-6424-7BFC-DD0173BE8EF4}"/>
              </a:ext>
            </a:extLst>
          </p:cNvPr>
          <p:cNvSpPr/>
          <p:nvPr/>
        </p:nvSpPr>
        <p:spPr>
          <a:xfrm>
            <a:off x="3355441" y="2714906"/>
            <a:ext cx="1803149" cy="1423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8DDEC8-C057-B209-A758-EDCC23C43DE6}"/>
              </a:ext>
            </a:extLst>
          </p:cNvPr>
          <p:cNvSpPr/>
          <p:nvPr/>
        </p:nvSpPr>
        <p:spPr>
          <a:xfrm>
            <a:off x="6096000" y="2714907"/>
            <a:ext cx="1908770" cy="14236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70BBEE-008C-C233-54AA-0CF2578587A1}"/>
              </a:ext>
            </a:extLst>
          </p:cNvPr>
          <p:cNvSpPr/>
          <p:nvPr/>
        </p:nvSpPr>
        <p:spPr>
          <a:xfrm>
            <a:off x="8942180" y="2714908"/>
            <a:ext cx="1932916" cy="1423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 #n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4BD581D-B15E-C1CE-E339-A6DDAA61909F}"/>
              </a:ext>
            </a:extLst>
          </p:cNvPr>
          <p:cNvSpPr/>
          <p:nvPr/>
        </p:nvSpPr>
        <p:spPr>
          <a:xfrm>
            <a:off x="615636" y="2055137"/>
            <a:ext cx="10366217" cy="497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F1DE5-E20C-7BD9-F637-E268D6576F45}"/>
              </a:ext>
            </a:extLst>
          </p:cNvPr>
          <p:cNvSpPr txBox="1"/>
          <p:nvPr/>
        </p:nvSpPr>
        <p:spPr>
          <a:xfrm>
            <a:off x="2933323" y="1816718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Call direction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F32D52B-C7F0-A9AE-FD2D-14487ADB1962}"/>
              </a:ext>
            </a:extLst>
          </p:cNvPr>
          <p:cNvSpPr/>
          <p:nvPr/>
        </p:nvSpPr>
        <p:spPr>
          <a:xfrm flipH="1">
            <a:off x="615636" y="4300394"/>
            <a:ext cx="10366217" cy="497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FC2A0-C5AF-11FA-4E9C-7F59C431125E}"/>
              </a:ext>
            </a:extLst>
          </p:cNvPr>
          <p:cNvSpPr txBox="1"/>
          <p:nvPr/>
        </p:nvSpPr>
        <p:spPr>
          <a:xfrm>
            <a:off x="7521921" y="4703265"/>
            <a:ext cx="178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Return direction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A2B5FB6-59D5-DEBA-199C-A3D6FC2F0D74}"/>
              </a:ext>
            </a:extLst>
          </p:cNvPr>
          <p:cNvSpPr/>
          <p:nvPr/>
        </p:nvSpPr>
        <p:spPr>
          <a:xfrm>
            <a:off x="838200" y="5758285"/>
            <a:ext cx="7759573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Middleware will call until last middleware (terminal) and return the value</a:t>
            </a:r>
          </a:p>
        </p:txBody>
      </p:sp>
    </p:spTree>
    <p:extLst>
      <p:ext uri="{BB962C8B-B14F-4D97-AF65-F5344CB8AC3E}">
        <p14:creationId xmlns:p14="http://schemas.microsoft.com/office/powerpoint/2010/main" val="235249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ED78-3140-F7D2-E7AB-F6AACB26C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Sample Middleware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A44074-6916-740F-BCD1-8DA0726B3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48" y="1690688"/>
            <a:ext cx="5565852" cy="4351338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8D8D8-D132-0AD8-88E0-1A6488A9BCEA}"/>
              </a:ext>
            </a:extLst>
          </p:cNvPr>
          <p:cNvSpPr/>
          <p:nvPr/>
        </p:nvSpPr>
        <p:spPr>
          <a:xfrm>
            <a:off x="6690513" y="4173929"/>
            <a:ext cx="46632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Await next(context) call to next middleware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F6BBA-4D75-9729-EC41-7B484C2F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13" y="1788721"/>
            <a:ext cx="2514600" cy="1790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71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66E0-8601-1DA7-D104-8327FF1A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App.Run</a:t>
            </a:r>
            <a:r>
              <a:rPr lang="en-MY" dirty="0"/>
              <a:t> serve as terminal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C6D0D5-1F71-8895-6033-4CCE18C7B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434425" cy="4351338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77BBB0-F99B-5754-947F-8837C92F1C63}"/>
              </a:ext>
            </a:extLst>
          </p:cNvPr>
          <p:cNvSpPr/>
          <p:nvPr/>
        </p:nvSpPr>
        <p:spPr>
          <a:xfrm>
            <a:off x="7528713" y="4333718"/>
            <a:ext cx="46632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Middleware #3 will not get call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99242-516D-373D-A298-0357F5843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517" y="1751799"/>
            <a:ext cx="2895600" cy="1352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549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25A42-62E3-A7D4-2BB8-AB25CA0F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Branching out the middleware using </a:t>
            </a:r>
            <a:r>
              <a:rPr lang="en-MY" dirty="0" err="1"/>
              <a:t>app.Map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119A6-BB09-1C8F-30A6-08E5E869F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3" y="1334139"/>
            <a:ext cx="3103179" cy="4351338"/>
          </a:xfr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2E7CDDC9-0F8A-766A-0245-1012C87A3E63}"/>
              </a:ext>
            </a:extLst>
          </p:cNvPr>
          <p:cNvGrpSpPr/>
          <p:nvPr/>
        </p:nvGrpSpPr>
        <p:grpSpPr>
          <a:xfrm>
            <a:off x="3103068" y="2092563"/>
            <a:ext cx="5939972" cy="3191038"/>
            <a:chOff x="4510807" y="1650674"/>
            <a:chExt cx="5939972" cy="319103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5C58CF4-46EC-E49D-A25D-442E42491C24}"/>
                </a:ext>
              </a:extLst>
            </p:cNvPr>
            <p:cNvSpPr/>
            <p:nvPr/>
          </p:nvSpPr>
          <p:spPr>
            <a:xfrm>
              <a:off x="4510807" y="3075240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DC20462-16E3-C785-0FFF-B9761A31FDEA}"/>
                </a:ext>
              </a:extLst>
            </p:cNvPr>
            <p:cNvSpPr/>
            <p:nvPr/>
          </p:nvSpPr>
          <p:spPr>
            <a:xfrm>
              <a:off x="6096000" y="1650674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Middleware#2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10C4E43-6C40-C560-D346-FB6A8A116F93}"/>
                </a:ext>
              </a:extLst>
            </p:cNvPr>
            <p:cNvSpPr/>
            <p:nvPr/>
          </p:nvSpPr>
          <p:spPr>
            <a:xfrm>
              <a:off x="8647630" y="1650674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Middleware#3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BCC9275-C473-760E-9C25-EE8468942577}"/>
                </a:ext>
              </a:extLst>
            </p:cNvPr>
            <p:cNvSpPr/>
            <p:nvPr/>
          </p:nvSpPr>
          <p:spPr>
            <a:xfrm>
              <a:off x="6096001" y="4309897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Middleware#5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13B362E-ABC7-A4A6-44C7-1C2E895A4073}"/>
                </a:ext>
              </a:extLst>
            </p:cNvPr>
            <p:cNvSpPr/>
            <p:nvPr/>
          </p:nvSpPr>
          <p:spPr>
            <a:xfrm>
              <a:off x="8647630" y="4314301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389A5A-7B99-008C-FBC1-CE598EEDAA78}"/>
                </a:ext>
              </a:extLst>
            </p:cNvPr>
            <p:cNvSpPr txBox="1"/>
            <p:nvPr/>
          </p:nvSpPr>
          <p:spPr>
            <a:xfrm>
              <a:off x="6096001" y="3619912"/>
              <a:ext cx="35476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http://localhost:5130/employees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5E45D9-2081-465B-EC96-0330AB815794}"/>
                </a:ext>
              </a:extLst>
            </p:cNvPr>
            <p:cNvSpPr txBox="1"/>
            <p:nvPr/>
          </p:nvSpPr>
          <p:spPr>
            <a:xfrm>
              <a:off x="6001593" y="2463291"/>
              <a:ext cx="35476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http://localhost:5130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21887C54-9DA8-4597-9A3E-6ADD595F86CB}"/>
                </a:ext>
              </a:extLst>
            </p:cNvPr>
            <p:cNvCxnSpPr>
              <a:stCxn id="6" idx="2"/>
              <a:endCxn id="9" idx="1"/>
            </p:cNvCxnSpPr>
            <p:nvPr/>
          </p:nvCxnSpPr>
          <p:spPr>
            <a:xfrm rot="16200000" flipH="1">
              <a:off x="5268715" y="3746317"/>
              <a:ext cx="970952" cy="68361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B5F08278-0D26-23A0-D7FA-46084E3E362B}"/>
                </a:ext>
              </a:extLst>
            </p:cNvPr>
            <p:cNvCxnSpPr>
              <a:cxnSpLocks/>
              <a:stCxn id="6" idx="0"/>
              <a:endCxn id="7" idx="1"/>
            </p:cNvCxnSpPr>
            <p:nvPr/>
          </p:nvCxnSpPr>
          <p:spPr>
            <a:xfrm rot="5400000" flipH="1" flipV="1">
              <a:off x="5173761" y="2153001"/>
              <a:ext cx="1160860" cy="68361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35FC97C-54F5-EBC8-DD4D-E82C4E18F7FA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7899149" y="1914380"/>
              <a:ext cx="7484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D5E1D31-9633-BBEB-A730-D44BDC40FF99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7899150" y="4573603"/>
              <a:ext cx="748480" cy="44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6E5F921-369B-EF43-B0C0-BE5C42BA4C39}"/>
                </a:ext>
              </a:extLst>
            </p:cNvPr>
            <p:cNvCxnSpPr/>
            <p:nvPr/>
          </p:nvCxnSpPr>
          <p:spPr>
            <a:xfrm flipH="1">
              <a:off x="7899149" y="2091350"/>
              <a:ext cx="748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82D9CC4-79EF-86B5-1F52-7E5A2A03492C}"/>
                </a:ext>
              </a:extLst>
            </p:cNvPr>
            <p:cNvCxnSpPr/>
            <p:nvPr/>
          </p:nvCxnSpPr>
          <p:spPr>
            <a:xfrm flipH="1">
              <a:off x="7899150" y="4460119"/>
              <a:ext cx="748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84715FBE-E3E8-17A1-D73A-07C0CCC0828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252265" y="3919775"/>
              <a:ext cx="1160862" cy="526609"/>
            </a:xfrm>
            <a:prstGeom prst="bentConnector3">
              <a:avLst>
                <a:gd name="adj1" fmla="val 28163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DD8B3022-D1C3-C487-A36B-3EB24CDC0C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35963" y="2333311"/>
              <a:ext cx="975357" cy="508504"/>
            </a:xfrm>
            <a:prstGeom prst="bentConnector3">
              <a:avLst>
                <a:gd name="adj1" fmla="val -198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4986413F-0ADF-B3D9-4A73-9ACE39B2B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4490017"/>
            <a:ext cx="3114675" cy="17716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EC7A10C-F400-BC74-E783-2E10C7DB4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777" y="1483812"/>
            <a:ext cx="26289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B6109A-EA32-221C-102A-6286E95BC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73" y="1789411"/>
            <a:ext cx="4037213" cy="4703464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9448757-B333-BF2A-6221-3934EE12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147" y="-97341"/>
            <a:ext cx="10515600" cy="1325563"/>
          </a:xfrm>
        </p:spPr>
        <p:txBody>
          <a:bodyPr/>
          <a:lstStyle/>
          <a:p>
            <a:r>
              <a:rPr lang="en-MY" dirty="0"/>
              <a:t>Branching out the middleware using </a:t>
            </a:r>
            <a:r>
              <a:rPr lang="en-MY" dirty="0" err="1"/>
              <a:t>app.MapWhen</a:t>
            </a:r>
            <a:endParaRPr lang="en-MY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CD8EEA-2C82-2ACC-1986-A3F1ADB84F0B}"/>
              </a:ext>
            </a:extLst>
          </p:cNvPr>
          <p:cNvSpPr/>
          <p:nvPr/>
        </p:nvSpPr>
        <p:spPr>
          <a:xfrm>
            <a:off x="3764356" y="730669"/>
            <a:ext cx="46632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Similar to </a:t>
            </a:r>
            <a:r>
              <a:rPr lang="en-MY" dirty="0" err="1"/>
              <a:t>app.Map</a:t>
            </a:r>
            <a:r>
              <a:rPr lang="en-MY" dirty="0"/>
              <a:t>. Just it accept more predicate pattern instead of one.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B50CE17-5E77-5B5B-4D6E-2BA8F1A7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117" y="46336"/>
            <a:ext cx="2457450" cy="1743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371B9C8-9C47-35CF-1484-853D9726C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485" y="5038490"/>
            <a:ext cx="3113935" cy="16624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7106306-34EF-F520-9693-529A6BAEE2AF}"/>
              </a:ext>
            </a:extLst>
          </p:cNvPr>
          <p:cNvGrpSpPr/>
          <p:nvPr/>
        </p:nvGrpSpPr>
        <p:grpSpPr>
          <a:xfrm>
            <a:off x="4199908" y="1833481"/>
            <a:ext cx="5939972" cy="3191038"/>
            <a:chOff x="4510807" y="1650674"/>
            <a:chExt cx="5939972" cy="319103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BF4BAA4-0D54-53CC-C3A2-C74A7B714A30}"/>
                </a:ext>
              </a:extLst>
            </p:cNvPr>
            <p:cNvSpPr/>
            <p:nvPr/>
          </p:nvSpPr>
          <p:spPr>
            <a:xfrm>
              <a:off x="4510807" y="3075240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Middleware#1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E067405-79FD-3ACA-C788-6E3A41882DC3}"/>
                </a:ext>
              </a:extLst>
            </p:cNvPr>
            <p:cNvSpPr/>
            <p:nvPr/>
          </p:nvSpPr>
          <p:spPr>
            <a:xfrm>
              <a:off x="6096000" y="1650674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Middleware#2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E8492B-B9FF-F18A-D4B0-603A22CB6BB3}"/>
                </a:ext>
              </a:extLst>
            </p:cNvPr>
            <p:cNvSpPr/>
            <p:nvPr/>
          </p:nvSpPr>
          <p:spPr>
            <a:xfrm>
              <a:off x="8647630" y="1650674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Middleware#3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98708A0-283B-3F8A-BAA7-56C440B48ECE}"/>
                </a:ext>
              </a:extLst>
            </p:cNvPr>
            <p:cNvSpPr/>
            <p:nvPr/>
          </p:nvSpPr>
          <p:spPr>
            <a:xfrm>
              <a:off x="6096001" y="4309897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Middleware#5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3E201AB-AE2E-F447-8635-8D0C873325B6}"/>
                </a:ext>
              </a:extLst>
            </p:cNvPr>
            <p:cNvSpPr/>
            <p:nvPr/>
          </p:nvSpPr>
          <p:spPr>
            <a:xfrm>
              <a:off x="8647630" y="4314301"/>
              <a:ext cx="1803149" cy="52741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MY" dirty="0"/>
                <a:t>Middleware#6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34FA0A-984F-C1A9-D6D8-E5E0D2A59B69}"/>
                </a:ext>
              </a:extLst>
            </p:cNvPr>
            <p:cNvSpPr txBox="1"/>
            <p:nvPr/>
          </p:nvSpPr>
          <p:spPr>
            <a:xfrm>
              <a:off x="6096000" y="3619912"/>
              <a:ext cx="41359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http://localhost:5130/employees?id=1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0CE8F3-6EA5-D143-AB9A-86B7EDB1E3AA}"/>
                </a:ext>
              </a:extLst>
            </p:cNvPr>
            <p:cNvSpPr txBox="1"/>
            <p:nvPr/>
          </p:nvSpPr>
          <p:spPr>
            <a:xfrm>
              <a:off x="6001593" y="2463291"/>
              <a:ext cx="35476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http://localhost:5130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87280B2B-C2FF-63CB-BA93-4A6667DFCA3E}"/>
                </a:ext>
              </a:extLst>
            </p:cNvPr>
            <p:cNvCxnSpPr>
              <a:stCxn id="9" idx="2"/>
              <a:endCxn id="12" idx="1"/>
            </p:cNvCxnSpPr>
            <p:nvPr/>
          </p:nvCxnSpPr>
          <p:spPr>
            <a:xfrm rot="16200000" flipH="1">
              <a:off x="5268715" y="3746317"/>
              <a:ext cx="970952" cy="68361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2C15E815-907B-B386-E2F9-C05F8A1551E2}"/>
                </a:ext>
              </a:extLst>
            </p:cNvPr>
            <p:cNvCxnSpPr>
              <a:cxnSpLocks/>
              <a:stCxn id="9" idx="0"/>
              <a:endCxn id="10" idx="1"/>
            </p:cNvCxnSpPr>
            <p:nvPr/>
          </p:nvCxnSpPr>
          <p:spPr>
            <a:xfrm rot="5400000" flipH="1" flipV="1">
              <a:off x="5173761" y="2153001"/>
              <a:ext cx="1160860" cy="68361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29EB7D8-CF92-E703-E1CA-57622C4BEC0F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7899149" y="1914380"/>
              <a:ext cx="7484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948D780-8D3E-0FBE-92BC-1F637919D9D4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7899150" y="4573603"/>
              <a:ext cx="748480" cy="44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50841ED-8F4B-95FC-5F33-BCFB7F925504}"/>
                </a:ext>
              </a:extLst>
            </p:cNvPr>
            <p:cNvCxnSpPr/>
            <p:nvPr/>
          </p:nvCxnSpPr>
          <p:spPr>
            <a:xfrm flipH="1">
              <a:off x="7899149" y="2091350"/>
              <a:ext cx="748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205C361-FFFB-F4D6-5AEB-7E62C0BD334F}"/>
                </a:ext>
              </a:extLst>
            </p:cNvPr>
            <p:cNvCxnSpPr/>
            <p:nvPr/>
          </p:nvCxnSpPr>
          <p:spPr>
            <a:xfrm flipH="1">
              <a:off x="7899150" y="4460119"/>
              <a:ext cx="748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FC5FE079-DD83-F2DF-9515-B77874A5AB0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252265" y="3919775"/>
              <a:ext cx="1160862" cy="526609"/>
            </a:xfrm>
            <a:prstGeom prst="bentConnector3">
              <a:avLst>
                <a:gd name="adj1" fmla="val 28163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4DCD308A-049D-0A9E-5DBD-408BC1F7C8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35963" y="2333311"/>
              <a:ext cx="975357" cy="508504"/>
            </a:xfrm>
            <a:prstGeom prst="bentConnector3">
              <a:avLst>
                <a:gd name="adj1" fmla="val -198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5474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89CB-EB88-4C9E-9338-406F858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Branching out and Rejoin back using </a:t>
            </a:r>
            <a:r>
              <a:rPr lang="en-MY" dirty="0" err="1"/>
              <a:t>app.UseWhen</a:t>
            </a:r>
            <a:endParaRPr lang="en-MY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9068B8F-4F27-370C-9E72-1CAEC4171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2" y="1705564"/>
            <a:ext cx="4371712" cy="5045765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49DFE7-76DF-4264-2F26-F98D6073FB95}"/>
              </a:ext>
            </a:extLst>
          </p:cNvPr>
          <p:cNvSpPr/>
          <p:nvPr/>
        </p:nvSpPr>
        <p:spPr>
          <a:xfrm>
            <a:off x="4610476" y="1690688"/>
            <a:ext cx="1803149" cy="527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7ED3E1-6128-2BF8-6955-69D7B455174E}"/>
              </a:ext>
            </a:extLst>
          </p:cNvPr>
          <p:cNvSpPr/>
          <p:nvPr/>
        </p:nvSpPr>
        <p:spPr>
          <a:xfrm>
            <a:off x="6413622" y="2786036"/>
            <a:ext cx="1803149" cy="527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48A663-E075-FA10-7526-FDF364E88078}"/>
              </a:ext>
            </a:extLst>
          </p:cNvPr>
          <p:cNvSpPr/>
          <p:nvPr/>
        </p:nvSpPr>
        <p:spPr>
          <a:xfrm>
            <a:off x="6413623" y="4079791"/>
            <a:ext cx="1803149" cy="527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553029-1E3B-1AB4-87C9-30F5F9ABB668}"/>
              </a:ext>
            </a:extLst>
          </p:cNvPr>
          <p:cNvSpPr/>
          <p:nvPr/>
        </p:nvSpPr>
        <p:spPr>
          <a:xfrm>
            <a:off x="4610475" y="4970139"/>
            <a:ext cx="1803149" cy="527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56F149-9058-E021-0177-66E65159BB25}"/>
              </a:ext>
            </a:extLst>
          </p:cNvPr>
          <p:cNvSpPr/>
          <p:nvPr/>
        </p:nvSpPr>
        <p:spPr>
          <a:xfrm>
            <a:off x="4610474" y="6195166"/>
            <a:ext cx="1803149" cy="527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MY" dirty="0"/>
              <a:t>Middleware#3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191F35-5F3C-DD81-5149-8CCE016B8110}"/>
              </a:ext>
            </a:extLst>
          </p:cNvPr>
          <p:cNvCxnSpPr>
            <a:stCxn id="4" idx="2"/>
            <a:endCxn id="8" idx="0"/>
          </p:cNvCxnSpPr>
          <p:nvPr/>
        </p:nvCxnSpPr>
        <p:spPr>
          <a:xfrm flipH="1">
            <a:off x="5512050" y="2218099"/>
            <a:ext cx="1" cy="275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0CE161-D416-01D4-CE98-C764C4665E5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315197" y="3313447"/>
            <a:ext cx="1" cy="76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1FFFF9-6EC9-066B-CF11-821C1A4F3A3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512049" y="5497550"/>
            <a:ext cx="1" cy="697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F132656-2D45-24C3-A764-88BEB5A5E565}"/>
              </a:ext>
            </a:extLst>
          </p:cNvPr>
          <p:cNvCxnSpPr>
            <a:stCxn id="4" idx="3"/>
            <a:endCxn id="6" idx="0"/>
          </p:cNvCxnSpPr>
          <p:nvPr/>
        </p:nvCxnSpPr>
        <p:spPr>
          <a:xfrm>
            <a:off x="6413625" y="1954394"/>
            <a:ext cx="901572" cy="8316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810DE10-B7D5-78F2-476F-74D182EFF49E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 rot="5400000">
            <a:off x="6551090" y="4469736"/>
            <a:ext cx="626643" cy="9015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5EFB85C-C1B2-6E06-EF7A-3167774A8D82}"/>
              </a:ext>
            </a:extLst>
          </p:cNvPr>
          <p:cNvCxnSpPr>
            <a:cxnSpLocks/>
          </p:cNvCxnSpPr>
          <p:nvPr/>
        </p:nvCxnSpPr>
        <p:spPr>
          <a:xfrm rot="10800000">
            <a:off x="6413625" y="1795957"/>
            <a:ext cx="1093196" cy="990078"/>
          </a:xfrm>
          <a:prstGeom prst="bentConnector3">
            <a:avLst>
              <a:gd name="adj1" fmla="val -13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4CCF831-9126-A772-2D70-CF3ACA1ACD0F}"/>
              </a:ext>
            </a:extLst>
          </p:cNvPr>
          <p:cNvCxnSpPr>
            <a:cxnSpLocks/>
          </p:cNvCxnSpPr>
          <p:nvPr/>
        </p:nvCxnSpPr>
        <p:spPr>
          <a:xfrm flipV="1">
            <a:off x="6413622" y="4613549"/>
            <a:ext cx="1239250" cy="759997"/>
          </a:xfrm>
          <a:prstGeom prst="bentConnector3">
            <a:avLst>
              <a:gd name="adj1" fmla="val 996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007F84-E4B2-DD8F-EE95-8833D849D0D3}"/>
              </a:ext>
            </a:extLst>
          </p:cNvPr>
          <p:cNvCxnSpPr>
            <a:cxnSpLocks/>
          </p:cNvCxnSpPr>
          <p:nvPr/>
        </p:nvCxnSpPr>
        <p:spPr>
          <a:xfrm flipV="1">
            <a:off x="5778376" y="2218099"/>
            <a:ext cx="0" cy="275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99F52-B09D-25E3-E90F-E2006758A3E1}"/>
              </a:ext>
            </a:extLst>
          </p:cNvPr>
          <p:cNvCxnSpPr>
            <a:cxnSpLocks/>
          </p:cNvCxnSpPr>
          <p:nvPr/>
        </p:nvCxnSpPr>
        <p:spPr>
          <a:xfrm flipH="1" flipV="1">
            <a:off x="5778375" y="5497550"/>
            <a:ext cx="1" cy="697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F0B17D6-8982-1BDE-27C9-339205B906C8}"/>
              </a:ext>
            </a:extLst>
          </p:cNvPr>
          <p:cNvCxnSpPr>
            <a:cxnSpLocks/>
          </p:cNvCxnSpPr>
          <p:nvPr/>
        </p:nvCxnSpPr>
        <p:spPr>
          <a:xfrm flipV="1">
            <a:off x="7586804" y="3313447"/>
            <a:ext cx="0" cy="76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E72B21AC-3994-A45F-459C-1F0F5BD20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0" y="1241393"/>
            <a:ext cx="2457450" cy="174307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6A158DC-54B0-092C-2018-66EE2BBD0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205" y="4062269"/>
            <a:ext cx="34004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96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F847-D627-DB85-00ED-74AD96C8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85" y="39481"/>
            <a:ext cx="10515600" cy="1325563"/>
          </a:xfrm>
        </p:spPr>
        <p:txBody>
          <a:bodyPr/>
          <a:lstStyle/>
          <a:p>
            <a:r>
              <a:rPr lang="en-MY" dirty="0"/>
              <a:t>Using custom middleware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CE032B-FAB3-E8FF-FB8F-4940ACA7B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5912" y="1162723"/>
            <a:ext cx="5533412" cy="1626204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537541-8C3F-1E10-2BB0-73D5D605E9CD}"/>
              </a:ext>
            </a:extLst>
          </p:cNvPr>
          <p:cNvSpPr/>
          <p:nvPr/>
        </p:nvSpPr>
        <p:spPr>
          <a:xfrm>
            <a:off x="448900" y="1179427"/>
            <a:ext cx="46632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Implement the interface: </a:t>
            </a:r>
            <a:r>
              <a:rPr lang="en-MY" dirty="0" err="1"/>
              <a:t>IMiddleware</a:t>
            </a:r>
            <a:endParaRPr lang="en-MY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6131CD-B070-35D0-1529-5CC1843B2141}"/>
              </a:ext>
            </a:extLst>
          </p:cNvPr>
          <p:cNvSpPr/>
          <p:nvPr/>
        </p:nvSpPr>
        <p:spPr>
          <a:xfrm>
            <a:off x="448900" y="3809370"/>
            <a:ext cx="46632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Use </a:t>
            </a:r>
            <a:r>
              <a:rPr lang="en-MY" dirty="0" err="1"/>
              <a:t>app.UseMiddleware</a:t>
            </a:r>
            <a:r>
              <a:rPr lang="en-MY" dirty="0"/>
              <a:t>&lt;Type&gt; to use 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9D4CD0-B3F8-0507-A4D4-8B3F3B3CE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893" y="3809370"/>
            <a:ext cx="6410325" cy="2171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A9CF3B-DADF-7F3D-227C-0F6B734C1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930" y="5165598"/>
            <a:ext cx="3028950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17532E-E1B3-64B9-1A86-A1B274108C6C}"/>
              </a:ext>
            </a:extLst>
          </p:cNvPr>
          <p:cNvSpPr/>
          <p:nvPr/>
        </p:nvSpPr>
        <p:spPr>
          <a:xfrm>
            <a:off x="448901" y="2936267"/>
            <a:ext cx="46632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Register the custom middleware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8CC2F2-0A06-6BB9-C4A2-54F58DB5E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893" y="3013125"/>
            <a:ext cx="42672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7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AC90-3BD1-335B-9AB1-6697E937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Endpoints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A2DB2B-0BE3-7292-E8F0-F7BAB1C06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76" y="1825625"/>
            <a:ext cx="5253724" cy="4351338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A1C399-DA32-A022-EAEA-9CAF8D93E080}"/>
              </a:ext>
            </a:extLst>
          </p:cNvPr>
          <p:cNvSpPr/>
          <p:nvPr/>
        </p:nvSpPr>
        <p:spPr>
          <a:xfrm>
            <a:off x="5160600" y="681037"/>
            <a:ext cx="5685200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An endpoint handles a request and return a response</a:t>
            </a:r>
          </a:p>
        </p:txBody>
      </p:sp>
    </p:spTree>
    <p:extLst>
      <p:ext uri="{BB962C8B-B14F-4D97-AF65-F5344CB8AC3E}">
        <p14:creationId xmlns:p14="http://schemas.microsoft.com/office/powerpoint/2010/main" val="192191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7464D-6C26-E3A6-4830-679D21A4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route parameter with default values</a:t>
            </a:r>
            <a:endParaRPr lang="en-MY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23203C-CCCB-1C71-CF4A-01D8F9D43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28" y="1690688"/>
            <a:ext cx="6582694" cy="10860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9C9E0A-755F-9399-E07C-7B7260B9A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28" y="3230578"/>
            <a:ext cx="3219450" cy="106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38D965-EF2C-66D8-57FE-CC253469F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8" y="4614862"/>
            <a:ext cx="3448050" cy="1104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16D2C1-C9FC-EEB2-EFE3-CF1EE52D6F96}"/>
              </a:ext>
            </a:extLst>
          </p:cNvPr>
          <p:cNvSpPr/>
          <p:nvPr/>
        </p:nvSpPr>
        <p:spPr>
          <a:xfrm>
            <a:off x="4461437" y="3509330"/>
            <a:ext cx="5685200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Auto send put “medium” as size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6AF60B-D39D-EBC0-1F21-511E22CEC3DF}"/>
              </a:ext>
            </a:extLst>
          </p:cNvPr>
          <p:cNvSpPr/>
          <p:nvPr/>
        </p:nvSpPr>
        <p:spPr>
          <a:xfrm>
            <a:off x="4461437" y="4858865"/>
            <a:ext cx="5685200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Overwrite by putting  “large” as size</a:t>
            </a:r>
          </a:p>
        </p:txBody>
      </p:sp>
    </p:spTree>
    <p:extLst>
      <p:ext uri="{BB962C8B-B14F-4D97-AF65-F5344CB8AC3E}">
        <p14:creationId xmlns:p14="http://schemas.microsoft.com/office/powerpoint/2010/main" val="3893060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5B85-EC2B-BDD0-A084-144AB03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Optional route parameter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F93603-C047-C5E6-B986-501893361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658904" cy="128605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A09BC5-9E85-F0B4-21C5-753C7831B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17" y="3241258"/>
            <a:ext cx="3705225" cy="1133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A5A05D-0331-7135-0916-913AA1F5A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808" y="3241258"/>
            <a:ext cx="3800475" cy="1057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8855F3-D07B-FDC9-A6F8-D90FAB393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7652" y="3273605"/>
            <a:ext cx="3686175" cy="1028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2090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33BD-1461-9E5F-627F-B1266470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 parameter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78099B-B8B2-DF4A-55B4-40768DA30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93804"/>
            <a:ext cx="6773220" cy="3286584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CAAAE6-CCEB-A4A7-8576-50474CBBF74A}"/>
              </a:ext>
            </a:extLst>
          </p:cNvPr>
          <p:cNvSpPr/>
          <p:nvPr/>
        </p:nvSpPr>
        <p:spPr>
          <a:xfrm>
            <a:off x="595608" y="1690688"/>
            <a:ext cx="5685200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Implement the </a:t>
            </a:r>
            <a:r>
              <a:rPr lang="en-MY" dirty="0" err="1"/>
              <a:t>IRouteConstraint</a:t>
            </a:r>
            <a:r>
              <a:rPr lang="en-MY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010871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8874F0-D8C8-A960-5762-844ADC451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628" y="2419350"/>
            <a:ext cx="5267325" cy="1009650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A85E5B4-9B8F-F6F5-98CB-1B2FFE715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Y" dirty="0"/>
              <a:t>Custom parameter constraint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B8299A-A139-C334-ADDC-1D928D39B3F6}"/>
              </a:ext>
            </a:extLst>
          </p:cNvPr>
          <p:cNvSpPr/>
          <p:nvPr/>
        </p:nvSpPr>
        <p:spPr>
          <a:xfrm>
            <a:off x="595608" y="1690688"/>
            <a:ext cx="5685200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Register the constraint</a:t>
            </a:r>
          </a:p>
        </p:txBody>
      </p:sp>
    </p:spTree>
    <p:extLst>
      <p:ext uri="{BB962C8B-B14F-4D97-AF65-F5344CB8AC3E}">
        <p14:creationId xmlns:p14="http://schemas.microsoft.com/office/powerpoint/2010/main" val="4134686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AC19-A273-C151-AB7E-794AE4C2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 parameter constraint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9415D1-4163-ECF9-0BAF-53329FFD9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49513"/>
            <a:ext cx="7229475" cy="1133475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47BF46-CD9A-CD82-6AA3-441C6CF7F795}"/>
              </a:ext>
            </a:extLst>
          </p:cNvPr>
          <p:cNvSpPr/>
          <p:nvPr/>
        </p:nvSpPr>
        <p:spPr>
          <a:xfrm>
            <a:off x="595608" y="1690688"/>
            <a:ext cx="5685200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Use the constraint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34494-D783-81F2-7314-9862B5EE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887" y="3689909"/>
            <a:ext cx="6501143" cy="2761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FF9E66-CC4A-31B2-6D2B-5D53036C6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29" y="3724919"/>
            <a:ext cx="4219575" cy="10191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72CA32-6DE3-2800-F8CA-A6200BC84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03" y="5072384"/>
            <a:ext cx="4314825" cy="106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BA842D-7B19-71A5-01A1-388983F42CD8}"/>
              </a:ext>
            </a:extLst>
          </p:cNvPr>
          <p:cNvSpPr/>
          <p:nvPr/>
        </p:nvSpPr>
        <p:spPr>
          <a:xfrm>
            <a:off x="7207596" y="4487872"/>
            <a:ext cx="3194836" cy="681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Get error if position is not manager or developer</a:t>
            </a:r>
          </a:p>
        </p:txBody>
      </p:sp>
    </p:spTree>
    <p:extLst>
      <p:ext uri="{BB962C8B-B14F-4D97-AF65-F5344CB8AC3E}">
        <p14:creationId xmlns:p14="http://schemas.microsoft.com/office/powerpoint/2010/main" val="2793994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1AAC-11D6-EDD1-1234-0D0BFAF6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Bind to route values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3227DEA-08B8-BF13-9C87-0E6438E67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319" y="1847748"/>
            <a:ext cx="7162800" cy="269557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47072-6CBC-8E66-2A5E-1FC28E23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806" y="4797016"/>
            <a:ext cx="3276600" cy="1790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0A23C5-B7AC-9768-3BF5-C158C5DEBB6B}"/>
              </a:ext>
            </a:extLst>
          </p:cNvPr>
          <p:cNvSpPr/>
          <p:nvPr/>
        </p:nvSpPr>
        <p:spPr>
          <a:xfrm>
            <a:off x="7892701" y="1926078"/>
            <a:ext cx="4175568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Explicitly mention the id is </a:t>
            </a:r>
            <a:r>
              <a:rPr lang="en-MY" dirty="0" err="1"/>
              <a:t>FromRoute</a:t>
            </a:r>
            <a:r>
              <a:rPr lang="en-MY" dirty="0"/>
              <a:t> where the name is called “id”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80BD9A-D890-B427-1699-69839B606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656" y="4700383"/>
            <a:ext cx="3590925" cy="1876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6DC5C1-EE69-7027-BC64-68F45E3380A0}"/>
              </a:ext>
            </a:extLst>
          </p:cNvPr>
          <p:cNvSpPr/>
          <p:nvPr/>
        </p:nvSpPr>
        <p:spPr>
          <a:xfrm>
            <a:off x="8016432" y="4004959"/>
            <a:ext cx="4175568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It return 404 status code if using query string</a:t>
            </a:r>
          </a:p>
        </p:txBody>
      </p:sp>
    </p:spTree>
    <p:extLst>
      <p:ext uri="{BB962C8B-B14F-4D97-AF65-F5344CB8AC3E}">
        <p14:creationId xmlns:p14="http://schemas.microsoft.com/office/powerpoint/2010/main" val="4029773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0066-5660-F553-C01A-EB5093BE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Bind to query string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07D6D3-9D58-3495-AA37-34EEA0096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7375"/>
            <a:ext cx="6763694" cy="26768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BB9B8D-2DB3-9B26-D3FF-B6D309B08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74986"/>
            <a:ext cx="3476625" cy="1743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0753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7B7B-E68B-96AC-CBC1-AC8DF941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Bind from header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10C70-3A91-DD21-83F7-EF2A00E03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0125" y="1924844"/>
            <a:ext cx="3286125" cy="4152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DDFD1-CD49-6E79-3A15-A991EA8E2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4844"/>
            <a:ext cx="67627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68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60EE-9B8A-F822-9604-6ACB8393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AsParameters</a:t>
            </a:r>
            <a:r>
              <a:rPr lang="en-US" dirty="0"/>
              <a:t> to group the parameters</a:t>
            </a:r>
            <a:endParaRPr lang="en-MY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D4ACEB-AB60-41FD-63E1-7F4A8273F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25" y="1690688"/>
            <a:ext cx="3257550" cy="221932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ADD4DE-06B7-26BB-4025-5BDB54218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22" y="4067694"/>
            <a:ext cx="7334250" cy="2543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F2AADC-2477-556F-C668-B317E3031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432" y="1843088"/>
            <a:ext cx="3895725" cy="4133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425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8363-F64D-DF2B-129C-185D2BCE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Bind array to query strings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C31F8C-03B8-B197-A825-80228F68B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248275" cy="1447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227E91-D9E0-DA01-B39D-2CDC3E42B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3819525" cy="2743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74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2DDF-2E87-3062-751F-5CE024DF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Bind array to headers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B8D2F-F718-68D5-C1DA-259FBB60F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7538" y="1870892"/>
            <a:ext cx="2738874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F079B-EFFC-3C3B-2DB9-955005CA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88" y="2028825"/>
            <a:ext cx="52768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39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5A4E-F94E-92ED-39D4-AB3E8823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0900"/>
            <a:ext cx="10515600" cy="1325563"/>
          </a:xfrm>
        </p:spPr>
        <p:txBody>
          <a:bodyPr/>
          <a:lstStyle/>
          <a:p>
            <a:r>
              <a:rPr lang="en-MY" dirty="0"/>
              <a:t>Binding to http body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128E5C-3F95-E826-6BAE-6B6893791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62" y="912416"/>
            <a:ext cx="5553075" cy="1981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554A63-9293-F421-186F-B530242B3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619" y="151599"/>
            <a:ext cx="3384770" cy="2960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CAA292-EC38-0B3B-F280-A62F23856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619" y="3325852"/>
            <a:ext cx="3390263" cy="2960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D12A72-C3CE-C110-E5C5-AF784404F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33" y="3030321"/>
            <a:ext cx="3105150" cy="3714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2804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EBCC-9C51-2FF7-6328-3B3679EB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 Binding with </a:t>
            </a:r>
            <a:r>
              <a:rPr lang="en-MY" dirty="0" err="1"/>
              <a:t>BindAsync</a:t>
            </a:r>
            <a:r>
              <a:rPr lang="en-MY" dirty="0"/>
              <a:t>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53F058-037F-8F97-9810-AF80DBA0F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2732"/>
            <a:ext cx="6619875" cy="34385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B8D5B-4DD9-63DD-581F-9216535F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71" y="1349807"/>
            <a:ext cx="3724275" cy="1085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5AA6D-42BF-CF65-239E-81230186F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373" y="2770455"/>
            <a:ext cx="3048000" cy="3562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8317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94F9-3EE8-325B-220B-A79ECFC0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MY" dirty="0"/>
              <a:t>Validate with Data Annotation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907CA4-E0B1-0F7B-7C20-981F42A48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62" y="1326286"/>
            <a:ext cx="3371850" cy="25812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300C7-CB06-83CC-8C64-091B328DB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2" y="5051692"/>
            <a:ext cx="3924300" cy="129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7837EB-9205-9381-7A9C-E77C1F66D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2" y="4190371"/>
            <a:ext cx="2790825" cy="3048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5BF535-D5C9-7558-888E-2D87D1445419}"/>
              </a:ext>
            </a:extLst>
          </p:cNvPr>
          <p:cNvSpPr/>
          <p:nvPr/>
        </p:nvSpPr>
        <p:spPr>
          <a:xfrm>
            <a:off x="3531040" y="1690688"/>
            <a:ext cx="3240952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Mention the data annotation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AEDDA5-68E0-D240-E5D1-1FD6D5AAB893}"/>
              </a:ext>
            </a:extLst>
          </p:cNvPr>
          <p:cNvSpPr/>
          <p:nvPr/>
        </p:nvSpPr>
        <p:spPr>
          <a:xfrm>
            <a:off x="3141741" y="4034324"/>
            <a:ext cx="2790825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Register the service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CCAFB3-999F-9D2D-2BA5-C7A774FF5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424" y="927367"/>
            <a:ext cx="4514850" cy="5419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8331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A7BA-92DF-65FA-5146-43826BAC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 Model Validation with </a:t>
            </a:r>
            <a:r>
              <a:rPr lang="en-MY" dirty="0" err="1"/>
              <a:t>ValidationAttribute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93DD34-7B08-06C5-27FF-AFDBA740A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95" y="2402830"/>
            <a:ext cx="8421275" cy="3486637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187FF5-A569-F05D-DBC3-5E85F20728D1}"/>
              </a:ext>
            </a:extLst>
          </p:cNvPr>
          <p:cNvSpPr/>
          <p:nvPr/>
        </p:nvSpPr>
        <p:spPr>
          <a:xfrm>
            <a:off x="615823" y="1620617"/>
            <a:ext cx="4245887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Implement Validation Attribute class</a:t>
            </a:r>
          </a:p>
        </p:txBody>
      </p:sp>
    </p:spTree>
    <p:extLst>
      <p:ext uri="{BB962C8B-B14F-4D97-AF65-F5344CB8AC3E}">
        <p14:creationId xmlns:p14="http://schemas.microsoft.com/office/powerpoint/2010/main" val="1344388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A7BA-92DF-65FA-5146-43826BAC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 Model Validation with </a:t>
            </a:r>
            <a:r>
              <a:rPr lang="en-MY" dirty="0" err="1"/>
              <a:t>ValidationAttribute</a:t>
            </a:r>
            <a:endParaRPr lang="en-MY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187FF5-A569-F05D-DBC3-5E85F20728D1}"/>
              </a:ext>
            </a:extLst>
          </p:cNvPr>
          <p:cNvSpPr/>
          <p:nvPr/>
        </p:nvSpPr>
        <p:spPr>
          <a:xfrm>
            <a:off x="335166" y="1690688"/>
            <a:ext cx="4834363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Add Custom Model Validation [</a:t>
            </a:r>
            <a:r>
              <a:rPr lang="en-MY" dirty="0" err="1"/>
              <a:t>Employee_EnsureSalary</a:t>
            </a:r>
            <a:r>
              <a:rPr lang="en-MY" dirty="0"/>
              <a:t>]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70D28C-16C3-E4E6-A308-FFB83D0D4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161" y="2440729"/>
            <a:ext cx="3553321" cy="232442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0141DF-4AA3-7FE9-CBA7-8399AB08F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246" y="1447988"/>
            <a:ext cx="5534025" cy="468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09F163-B186-42B9-FABE-79BE4CACF164}"/>
              </a:ext>
            </a:extLst>
          </p:cNvPr>
          <p:cNvSpPr/>
          <p:nvPr/>
        </p:nvSpPr>
        <p:spPr>
          <a:xfrm>
            <a:off x="335166" y="4914473"/>
            <a:ext cx="3376755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Note: Register the  validation service is a must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3C4BF9-0338-1DF9-20B3-5F0832E93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650" y="5680687"/>
            <a:ext cx="27908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08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F747-FE94-D336-A894-1618179D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 Model Validation with </a:t>
            </a:r>
            <a:r>
              <a:rPr lang="en-MY" dirty="0" err="1"/>
              <a:t>IValidatableObject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8D06C-EB1D-15EE-EE0F-A57F4637A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4910750" cy="4998805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021BCD-4AA2-E9DC-B7CD-C230B2108A0A}"/>
              </a:ext>
            </a:extLst>
          </p:cNvPr>
          <p:cNvSpPr/>
          <p:nvPr/>
        </p:nvSpPr>
        <p:spPr>
          <a:xfrm>
            <a:off x="6096000" y="1690687"/>
            <a:ext cx="3790384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Implement the </a:t>
            </a:r>
            <a:r>
              <a:rPr lang="en-MY" dirty="0" err="1"/>
              <a:t>IValidatableObject</a:t>
            </a:r>
            <a:r>
              <a:rPr lang="en-MY" dirty="0"/>
              <a:t> interface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1F275C-BC46-38B9-747B-CA2C2BB2C1D7}"/>
              </a:ext>
            </a:extLst>
          </p:cNvPr>
          <p:cNvSpPr/>
          <p:nvPr/>
        </p:nvSpPr>
        <p:spPr>
          <a:xfrm>
            <a:off x="6096000" y="4758303"/>
            <a:ext cx="3790384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Put the implementation logic</a:t>
            </a:r>
          </a:p>
        </p:txBody>
      </p:sp>
    </p:spTree>
    <p:extLst>
      <p:ext uri="{BB962C8B-B14F-4D97-AF65-F5344CB8AC3E}">
        <p14:creationId xmlns:p14="http://schemas.microsoft.com/office/powerpoint/2010/main" val="3958931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95AA96-EAAF-8604-9087-703B4A960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3739" y="1690688"/>
            <a:ext cx="5474549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5D98CA7-4D44-4F15-689D-991C708E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Y" dirty="0"/>
              <a:t>Custom Model Validation with </a:t>
            </a:r>
            <a:r>
              <a:rPr lang="en-MY" dirty="0" err="1"/>
              <a:t>IValidatableObject</a:t>
            </a:r>
            <a:endParaRPr lang="en-MY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2530B1-96B3-D516-A195-741AB080EDC3}"/>
              </a:ext>
            </a:extLst>
          </p:cNvPr>
          <p:cNvSpPr/>
          <p:nvPr/>
        </p:nvSpPr>
        <p:spPr>
          <a:xfrm>
            <a:off x="588663" y="1890616"/>
            <a:ext cx="3376755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Note: Register the  validation service is a must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21431D-B5AA-61E4-E5B4-E6C5454D6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147" y="2656830"/>
            <a:ext cx="27908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42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8EEA-5254-73A9-4112-12C01A9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Mini</a:t>
            </a:r>
            <a:r>
              <a:rPr lang="en-MY" altLang="zh-CN" dirty="0"/>
              <a:t>mal Api return type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38E46D-68D9-B9B0-7ED9-BEC01E455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7230897" cy="1052512"/>
          </a:xfrm>
        </p:spPr>
      </p:pic>
    </p:spTree>
    <p:extLst>
      <p:ext uri="{BB962C8B-B14F-4D97-AF65-F5344CB8AC3E}">
        <p14:creationId xmlns:p14="http://schemas.microsoft.com/office/powerpoint/2010/main" val="1090959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719B-01D5-83AB-8985-F674CCA6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Mix and Match Results and </a:t>
            </a:r>
            <a:r>
              <a:rPr lang="en-MY" dirty="0" err="1"/>
              <a:t>TypeResults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01943F-5069-7464-4744-E35150B9C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09898"/>
            <a:ext cx="6315956" cy="1676634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BECC1C-3CA0-41DD-0CDD-2D53FA7C0C92}"/>
              </a:ext>
            </a:extLst>
          </p:cNvPr>
          <p:cNvSpPr/>
          <p:nvPr/>
        </p:nvSpPr>
        <p:spPr>
          <a:xfrm>
            <a:off x="470968" y="1624972"/>
            <a:ext cx="3856588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Both implement </a:t>
            </a:r>
            <a:r>
              <a:rPr lang="en-MY" dirty="0" err="1"/>
              <a:t>IResult</a:t>
            </a:r>
            <a:r>
              <a:rPr lang="en-MY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757113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CC42-9000-2EC7-5E6A-F3992BBB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problem details standard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5F507-2A9A-9CC3-3B84-378F78CAB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895" y="1551113"/>
            <a:ext cx="3686175" cy="3629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5BF72D-F5D9-8AEA-D98A-B69E15221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745" y="1551113"/>
            <a:ext cx="5619750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B93DE0-D666-109B-E3EF-27DC66AB8C0E}"/>
              </a:ext>
            </a:extLst>
          </p:cNvPr>
          <p:cNvSpPr/>
          <p:nvPr/>
        </p:nvSpPr>
        <p:spPr>
          <a:xfrm>
            <a:off x="326113" y="5601469"/>
            <a:ext cx="3856588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Different types of error message were returned.</a:t>
            </a:r>
          </a:p>
        </p:txBody>
      </p:sp>
    </p:spTree>
    <p:extLst>
      <p:ext uri="{BB962C8B-B14F-4D97-AF65-F5344CB8AC3E}">
        <p14:creationId xmlns:p14="http://schemas.microsoft.com/office/powerpoint/2010/main" val="4170121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CC42-9000-2EC7-5E6A-F3992BBB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problem details standard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29F5E5-717A-C2E0-C5E3-4F76DCC58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617" y="1971346"/>
            <a:ext cx="6000750" cy="2181225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4BE123-CC0C-5782-061B-74E625F3D7D2}"/>
              </a:ext>
            </a:extLst>
          </p:cNvPr>
          <p:cNvSpPr/>
          <p:nvPr/>
        </p:nvSpPr>
        <p:spPr>
          <a:xfrm>
            <a:off x="380433" y="1382241"/>
            <a:ext cx="420061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Fix by return </a:t>
            </a:r>
            <a:r>
              <a:rPr lang="en-MY" dirty="0" err="1"/>
              <a:t>Results.ValidationProblem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68061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A673-9B4D-A7FA-71E5-C7CE9D20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problem details standard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86727F-36F5-A246-3690-EA4E32794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698" y="1581182"/>
            <a:ext cx="4466279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E0DCBF-1430-A9DA-85F1-BFC1BE189DE7}"/>
              </a:ext>
            </a:extLst>
          </p:cNvPr>
          <p:cNvSpPr/>
          <p:nvPr/>
        </p:nvSpPr>
        <p:spPr>
          <a:xfrm>
            <a:off x="5923985" y="1898289"/>
            <a:ext cx="3663636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Return the problem details in standard way</a:t>
            </a:r>
          </a:p>
        </p:txBody>
      </p:sp>
    </p:spTree>
    <p:extLst>
      <p:ext uri="{BB962C8B-B14F-4D97-AF65-F5344CB8AC3E}">
        <p14:creationId xmlns:p14="http://schemas.microsoft.com/office/powerpoint/2010/main" val="3968654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4E95-6375-BE5A-D545-DE1F7A5D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0"/>
            <a:ext cx="10515600" cy="1325563"/>
          </a:xfrm>
        </p:spPr>
        <p:txBody>
          <a:bodyPr/>
          <a:lstStyle/>
          <a:p>
            <a:r>
              <a:rPr lang="en-MY" dirty="0"/>
              <a:t>Standardize the Api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FB672-C1AF-5CB7-0AEA-5F6E892C7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259" y="4671563"/>
            <a:ext cx="3295650" cy="1933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79415FBF-34AF-2FD8-1199-38A37270D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59" y="1065999"/>
            <a:ext cx="8686046" cy="32615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819143-8101-9697-7E9E-724665BB1881}"/>
              </a:ext>
            </a:extLst>
          </p:cNvPr>
          <p:cNvSpPr/>
          <p:nvPr/>
        </p:nvSpPr>
        <p:spPr>
          <a:xfrm>
            <a:off x="4783249" y="3120553"/>
            <a:ext cx="3663636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Sending null employee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5BD262-C1DA-3AC6-A096-1098BE9893D4}"/>
              </a:ext>
            </a:extLst>
          </p:cNvPr>
          <p:cNvSpPr/>
          <p:nvPr/>
        </p:nvSpPr>
        <p:spPr>
          <a:xfrm>
            <a:off x="3776805" y="5792001"/>
            <a:ext cx="3663636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Browsing to not existing URL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92D9EB-E92C-7ED1-E44F-B3B6911B8A1C}"/>
              </a:ext>
            </a:extLst>
          </p:cNvPr>
          <p:cNvSpPr/>
          <p:nvPr/>
        </p:nvSpPr>
        <p:spPr>
          <a:xfrm>
            <a:off x="8446885" y="5021456"/>
            <a:ext cx="3663636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Showing error in different way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D2B6BF-69FE-A0F9-E868-A8DECB2424DE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>
            <a:off x="6615067" y="3737447"/>
            <a:ext cx="1831818" cy="159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B2438A-223A-132A-D2CB-B31778188214}"/>
              </a:ext>
            </a:extLst>
          </p:cNvPr>
          <p:cNvCxnSpPr>
            <a:cxnSpLocks/>
            <a:stCxn id="10" idx="0"/>
            <a:endCxn id="11" idx="1"/>
          </p:cNvCxnSpPr>
          <p:nvPr/>
        </p:nvCxnSpPr>
        <p:spPr>
          <a:xfrm flipV="1">
            <a:off x="5608623" y="5329903"/>
            <a:ext cx="2838262" cy="462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0968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3CC4-D2B8-143A-8539-DC7B38D0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Standardize the Api result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CC3A0E-49EE-BC92-1FFA-B08D7690E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208" y="1522860"/>
            <a:ext cx="4133850" cy="1190625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748EEB-BEF0-E29F-00DA-FCDAB1B515B1}"/>
              </a:ext>
            </a:extLst>
          </p:cNvPr>
          <p:cNvSpPr/>
          <p:nvPr/>
        </p:nvSpPr>
        <p:spPr>
          <a:xfrm>
            <a:off x="326208" y="1747318"/>
            <a:ext cx="3023574" cy="190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E80FCC-A42E-8538-08F2-84288B0070B9}"/>
              </a:ext>
            </a:extLst>
          </p:cNvPr>
          <p:cNvSpPr/>
          <p:nvPr/>
        </p:nvSpPr>
        <p:spPr>
          <a:xfrm>
            <a:off x="326208" y="2415766"/>
            <a:ext cx="2082014" cy="190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2DC0EB-4DA5-22F4-8DD7-5D6BBEACDEF6}"/>
              </a:ext>
            </a:extLst>
          </p:cNvPr>
          <p:cNvSpPr/>
          <p:nvPr/>
        </p:nvSpPr>
        <p:spPr>
          <a:xfrm>
            <a:off x="4798523" y="1533932"/>
            <a:ext cx="420061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Add those 2 lines to fix the problems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9B9AFC-78FE-ECA9-8AA6-7887CBD02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07" y="3191810"/>
            <a:ext cx="5144396" cy="2293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791D0D-2B71-3C30-AD58-590BA7C9D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048" y="2415766"/>
            <a:ext cx="5784963" cy="4323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2859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54D6-998A-C211-D7BE-5AA5E00C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Customize Result by implementing </a:t>
            </a:r>
            <a:r>
              <a:rPr lang="en-MY" dirty="0" err="1"/>
              <a:t>IResult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AE43E5-31E9-21CB-0439-F1051AC54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677" y="2375403"/>
            <a:ext cx="6305550" cy="342900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6A5412-968B-F41D-D6B4-98C7A1CDF888}"/>
              </a:ext>
            </a:extLst>
          </p:cNvPr>
          <p:cNvSpPr/>
          <p:nvPr/>
        </p:nvSpPr>
        <p:spPr>
          <a:xfrm>
            <a:off x="634592" y="1690688"/>
            <a:ext cx="4200619" cy="616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Implement </a:t>
            </a:r>
            <a:r>
              <a:rPr lang="en-MY" dirty="0" err="1"/>
              <a:t>IResult</a:t>
            </a:r>
            <a:r>
              <a:rPr lang="en-MY" dirty="0"/>
              <a:t> interface and feed the html string </a:t>
            </a:r>
          </a:p>
        </p:txBody>
      </p:sp>
    </p:spTree>
    <p:extLst>
      <p:ext uri="{BB962C8B-B14F-4D97-AF65-F5344CB8AC3E}">
        <p14:creationId xmlns:p14="http://schemas.microsoft.com/office/powerpoint/2010/main" val="33976848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08C6-7196-F246-60A1-08639B50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Customize Result by implementing </a:t>
            </a:r>
            <a:r>
              <a:rPr lang="en-MY" dirty="0" err="1"/>
              <a:t>IResult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3BC2A-C2D8-6146-8DB3-D7C432076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897" y="1690688"/>
            <a:ext cx="4905375" cy="11239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5C729E-0A47-EFC0-16B4-5519D555E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03983"/>
            <a:ext cx="2724150" cy="1409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320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545</Words>
  <Application>Microsoft Office PowerPoint</Application>
  <PresentationFormat>Widescreen</PresentationFormat>
  <Paragraphs>105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ASP.NET Core Deep Dive</vt:lpstr>
      <vt:lpstr>App.Run</vt:lpstr>
      <vt:lpstr>HTTP GET – All employees data and display</vt:lpstr>
      <vt:lpstr>HTTP POST – Create an Employee data</vt:lpstr>
      <vt:lpstr>HTTP PUT – Update an Employee data</vt:lpstr>
      <vt:lpstr>HTTP DELETE – Delete an Employee data</vt:lpstr>
      <vt:lpstr>Middleware concepts</vt:lpstr>
      <vt:lpstr>Sample Middleware code</vt:lpstr>
      <vt:lpstr>App.Run serve as terminal </vt:lpstr>
      <vt:lpstr>Branching out the middleware using app.Map</vt:lpstr>
      <vt:lpstr>Branching out the middleware using app.MapWhen</vt:lpstr>
      <vt:lpstr>Branching out and Rejoin back using app.UseWhen</vt:lpstr>
      <vt:lpstr>Using custom middleware</vt:lpstr>
      <vt:lpstr>Endpoints</vt:lpstr>
      <vt:lpstr>Required route parameter with default values</vt:lpstr>
      <vt:lpstr>Optional route parameter</vt:lpstr>
      <vt:lpstr>Custom parameter constraint</vt:lpstr>
      <vt:lpstr>Custom parameter constraint</vt:lpstr>
      <vt:lpstr>Custom parameter constraint</vt:lpstr>
      <vt:lpstr>Bind to route values</vt:lpstr>
      <vt:lpstr>Bind to query string</vt:lpstr>
      <vt:lpstr>Bind from header</vt:lpstr>
      <vt:lpstr>use AsParameters to group the parameters</vt:lpstr>
      <vt:lpstr>Bind array to query strings</vt:lpstr>
      <vt:lpstr>Bind array to headers</vt:lpstr>
      <vt:lpstr>Binding to http body</vt:lpstr>
      <vt:lpstr>Custom Binding with BindAsync method</vt:lpstr>
      <vt:lpstr>Validate with Data Annotation</vt:lpstr>
      <vt:lpstr>Custom Model Validation with ValidationAttribute</vt:lpstr>
      <vt:lpstr>Custom Model Validation with ValidationAttribute</vt:lpstr>
      <vt:lpstr>Custom Model Validation with IValidatableObject</vt:lpstr>
      <vt:lpstr>Custom Model Validation with IValidatableObject</vt:lpstr>
      <vt:lpstr>Minimal Api return type</vt:lpstr>
      <vt:lpstr>Mix and Match Results and TypeResults</vt:lpstr>
      <vt:lpstr>The problem details standard</vt:lpstr>
      <vt:lpstr>The problem details standard</vt:lpstr>
      <vt:lpstr>The problem details standard</vt:lpstr>
      <vt:lpstr>Standardize the Api result</vt:lpstr>
      <vt:lpstr>Standardize the Api result</vt:lpstr>
      <vt:lpstr>Customize Result by implementing IResult</vt:lpstr>
      <vt:lpstr>Customize Result by implementing IResult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Leng Keong Gan</dc:creator>
  <cp:lastModifiedBy>Leng Keong Gan</cp:lastModifiedBy>
  <cp:revision>9</cp:revision>
  <dcterms:created xsi:type="dcterms:W3CDTF">2026-08-28T15:32:43Z</dcterms:created>
  <dcterms:modified xsi:type="dcterms:W3CDTF">2026-08-30T04:12:10Z</dcterms:modified>
</cp:coreProperties>
</file>